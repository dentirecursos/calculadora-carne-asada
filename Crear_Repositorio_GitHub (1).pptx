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detallada para crear un repositorio en GitHub, con dos ejemplos prácticos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presentación avanza de los conceptos a 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Conceptos básicos.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fue creado por Linus Torvalds en 2005 para desarrollar el kernel de Linux. Es gratuito y de código abierto.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común: pensar que Git y GitHub son lo mismo. Git es la herramienta; GitHub es un servicio en línea que aloja repositorios de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repositorio local vive en tu computadora; el remoto en GitHub. Se sincronizan con push y pull.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términos aparecen en toda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cambio pasa por tres zonas antes de llegar a GitHub. Entender este flujo evita la mayoría de las confusiones.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Preparación.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cuenta gratuita permite repositorios públicos y privados ilimitados.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se instala una sola vez por computadora. Verifica la instalación con git --version.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esta configuración Git no permite hacer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agosto de 2021 GitHub ya no acepta la contraseña de la cuenta para operaciones de Git desde la terminal. Se usa un token o una llave SSH.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 evita escribir credenciales en cada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Desde la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tres caminos para llegar al mismo formulario. La interfaz de GitHub está en inglés por defecto.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número corresponde a una opción que se explica en las siguientes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nombre del repositorio forma parte de la URL, por eso conviene elegirlo bien desde el inicio (aunque se puede cambiar después en Settings).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visibilidad se puede cambiar después en Settings, en la sección Danger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tres opciones inicializan el repositorio con un primer commit. Si piensas subir un proyecto que ya existe en tu PC, déjalas vacías (ver ejemplo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general, no es asesoría legal. El sitio choosealicense.com, creado por GitHub, ayuda a elegir.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aparece después depende de si marcaste README 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por las partes más importantes de la página de un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Opciones de Settings que se usan con más frecuencia.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Otros métodos.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CLI es la forma más rápida para quien ya usa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quien prefiere no usar la terminal. Por dentro ejecutan los mismos comandos de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producen el mismo resultado: un repositorio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Ejemplo 1: portafolio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Escenario del ejemplo 1 y el plan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formulario se llenan los valores indicados y después se copia la URL del botón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Clonar descarga el repositorio completo y conecta automáticamente con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agrega index.html con la página principal y se mejora README.md con Markdown.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Recarga la página del repositorio: verás index.html y el nuevo mensaje del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Pages publica sitios estáticos directamente desde un repositorio. En cuentas gratuitas el repositorio debe ser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Ejemplo 2: proyecto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Escenario del ejemplo 2: el proyecto existe localmente pero aún no es un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También se puede crear .gitignore con un editor, o partir de las plantillas de github.com/github/gitignore.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 aquí todo es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se marca README aquí, el historial de GitHub y el local serían distintos y el primer push sería rechazado.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Atajo con GitHub CLI: gh repo create control-escolar --private --source=. --push hace los pasos 3 y 4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colaboradores pueden hacer push al repositorio. En un repositorio privado son los únicos que pueden 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ramas y los pull requests evitan que dos personas rompan main al mismo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módulo: Buenas prácticas y resumen.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Hábitos que distinguen un repositorio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errores más frecuentes de quienes crean su primer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de referencia para imprimir o tener a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dos caminos para crear un repositorio y un ciclo de trabajo que se repite todos los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PASO A PASO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crear un repositorio en GitHub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cero: preparación, cada opción del formulario, otros métodos y 2 ejemplos completos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470916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48463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8463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48463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4782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120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 primer commit"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main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291840" cy="329184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202" y="2344522"/>
            <a:ext cx="1711757" cy="171175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2377440" y="182880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086" y="197144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38328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5760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5212080" y="182880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26" y="197144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760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1792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9224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4"/>
          <p:cNvSpPr/>
          <p:nvPr/>
        </p:nvSpPr>
        <p:spPr>
          <a:xfrm>
            <a:off x="8046720" y="182880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366" y="197144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9224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 desde la web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905256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932688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Shape 18"/>
          <p:cNvSpPr/>
          <p:nvPr/>
        </p:nvSpPr>
        <p:spPr>
          <a:xfrm>
            <a:off x="10881360" y="182880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4006" y="197144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2688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métodos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54864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Shape 22"/>
          <p:cNvSpPr/>
          <p:nvPr/>
        </p:nvSpPr>
        <p:spPr>
          <a:xfrm>
            <a:off x="2377440" y="425196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086" y="439460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296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portafolio web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338328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365760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Shape 26"/>
          <p:cNvSpPr/>
          <p:nvPr/>
        </p:nvSpPr>
        <p:spPr>
          <a:xfrm>
            <a:off x="5212080" y="425196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726" y="4394606"/>
            <a:ext cx="309067" cy="30906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65760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proyecto local</a:t>
            </a:r>
            <a:endParaRPr lang="en-US" sz="1700" dirty="0"/>
          </a:p>
        </p:txBody>
      </p:sp>
      <p:sp>
        <p:nvSpPr>
          <p:cNvPr id="37" name="Shape 28"/>
          <p:cNvSpPr/>
          <p:nvPr/>
        </p:nvSpPr>
        <p:spPr>
          <a:xfrm>
            <a:off x="621792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649224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39" name="Shape 30"/>
          <p:cNvSpPr/>
          <p:nvPr/>
        </p:nvSpPr>
        <p:spPr>
          <a:xfrm>
            <a:off x="8046720" y="425196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9366" y="4394606"/>
            <a:ext cx="309067" cy="30906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49224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errores</a:t>
            </a:r>
            <a:endParaRPr lang="en-US" sz="1700" dirty="0"/>
          </a:p>
        </p:txBody>
      </p:sp>
      <p:sp>
        <p:nvSpPr>
          <p:cNvPr id="42" name="Shape 32"/>
          <p:cNvSpPr/>
          <p:nvPr/>
        </p:nvSpPr>
        <p:spPr>
          <a:xfrm>
            <a:off x="9052560" y="3977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32688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4" name="Shape 34"/>
          <p:cNvSpPr/>
          <p:nvPr/>
        </p:nvSpPr>
        <p:spPr>
          <a:xfrm>
            <a:off x="10881360" y="4251960"/>
            <a:ext cx="594360" cy="594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4006" y="4394606"/>
            <a:ext cx="309067" cy="30906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32688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comandos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aprenderás?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819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44168" y="160934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Git y GitHub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44168" y="1938528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repositorio, un commit, una rama y un remoto.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9707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4168" y="279806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tu equipo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44168" y="3127248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Cuenta, instalación de Git, identidad y autenticación.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66928" cy="5669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15942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44168" y="398678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repositorios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44168" y="4315968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web, la terminal (GitHub CLI) y aplicaciones de escritorio.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34814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44168" y="517550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el repo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344168" y="5504688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Clonar, hacer commits, subir cambios, ramas y pull requests.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589520" y="1508760"/>
            <a:ext cx="4069080" cy="4846320"/>
          </a:xfrm>
          <a:prstGeom prst="roundRect">
            <a:avLst>
              <a:gd name="adj" fmla="val 224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863840" y="1783080"/>
            <a:ext cx="777240" cy="7772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378" y="1969618"/>
            <a:ext cx="404165" cy="40416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86384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tendrás: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7863840" y="329184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publicado en internet con GitHub Pages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local subido a GitHub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de comandos para el día a día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y el vocabulario que necesitas antes de crear tu primer repositorio.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de control de versiones distribuido: registra cada cambio que haces en tus archivos, quién lo hizo y cuándo, para que puedas volver a cualquier versión anterior.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en 2005 por Linus Torvalds. Es gratuito, de código abierto y funciona sin internet en tu computadora.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5852160" cy="20574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Git: </a:t>
            </a:r>
            <a:endParaRPr lang="en-US" sz="1550" dirty="0"/>
          </a:p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tarea_final.docx, tarea_final2.docx, tarea_final_AHORA_SI.docx…</a:t>
            </a:r>
            <a:endParaRPr lang="en-US" sz="155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Git: 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con todo su historial de cambios.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766560" y="1508760"/>
            <a:ext cx="233172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95160" y="17373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8779" y="18909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7240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2514600"/>
            <a:ext cx="1874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queda guardada.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326880" y="1508760"/>
            <a:ext cx="233172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55480" y="17373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099" y="18909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32720" y="1737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atrás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9555480" y="2514600"/>
            <a:ext cx="1874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cualquier versión anterior.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766560" y="4046220"/>
            <a:ext cx="233172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95160" y="427482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79" y="442843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0" y="42748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5052060"/>
            <a:ext cx="1874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ideas sin romper lo que funciona.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326880" y="4046220"/>
            <a:ext cx="233172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555480" y="427482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099" y="442843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332720" y="42748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555480" y="5052060"/>
            <a:ext cx="1874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personas en el mismo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GitHub? Git vs.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8059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1755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19202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834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instalas en tu computadora para llevar el control de versiones.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384048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desde la terminal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historial en la carpeta .git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72200" y="150876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1783080"/>
            <a:ext cx="822960" cy="8229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19805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543800" y="1755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75438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la nube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2834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que guarda tus repositorios de Git en internet y añade herramientas para colaborar.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84048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en línea de tu código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pull requests y Actions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público y GitHub Pages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E7F0FB"/>
          </a:solidFill>
          <a:ln w="12700">
            <a:solidFill>
              <a:srgbClr val="E7F0F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 GitHub que también usan Git: GitLab, Bitbucket y Azure Repos.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repositorio?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(repo) es la carpeta de un proyecto más todo su historial de cambios. Puede existir en dos lugares: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4206240" cy="2926080"/>
          </a:xfrm>
          <a:prstGeom prst="roundRect">
            <a:avLst>
              <a:gd name="adj" fmla="val 312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48840" y="260604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0242" y="284744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local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computadora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proyecto/  +  .git/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52360" y="2377440"/>
            <a:ext cx="4206240" cy="2926080"/>
          </a:xfrm>
          <a:prstGeom prst="roundRect">
            <a:avLst>
              <a:gd name="adj" fmla="val 3125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52560" y="260604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2" y="284744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5236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remoto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74523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GitHub (origin)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45236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github.com/usuario/proyecto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92040" y="3291840"/>
            <a:ext cx="2423160" cy="914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489204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(subir)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 flipV="1">
            <a:off x="4892040" y="4206240"/>
            <a:ext cx="2423160" cy="914"/>
          </a:xfrm>
          <a:prstGeom prst="line">
            <a:avLst/>
          </a:prstGeom>
          <a:noFill/>
          <a:ln w="38100">
            <a:solidFill>
              <a:srgbClr val="0969DA"/>
            </a:solidFill>
            <a:prstDash val="solid"/>
            <a:headEnd type="triangle"/>
          </a:ln>
        </p:spPr>
      </p:sp>
      <p:sp>
        <p:nvSpPr>
          <p:cNvPr id="23" name="Text 18"/>
          <p:cNvSpPr txBox="1"/>
          <p:nvPr/>
        </p:nvSpPr>
        <p:spPr>
          <a:xfrm>
            <a:off x="4892040" y="4297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(bajar)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carpeta oculta .git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que convierte una carpeta normal en un repositorio: ahí se guarda todo el historial. No la borres.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esencial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«foto» del proyecto en un momento dado, con un mensaje que describe el cambio.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1292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41520" y="17373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139" y="189097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1876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(branch)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4152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trabajo independiente. La principal se llama main.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7720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05800" y="17373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419" y="189097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8304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(origin)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830580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copia del repositorio que está en GitHub.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42843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(clone)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un repositorio remoto completo a tu computadora.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31292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41520" y="427482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139" y="442843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1876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1700" dirty="0"/>
          </a:p>
        </p:txBody>
      </p:sp>
      <p:sp>
        <p:nvSpPr>
          <p:cNvPr id="31" name="Text 23"/>
          <p:cNvSpPr txBox="1"/>
          <p:nvPr/>
        </p:nvSpPr>
        <p:spPr>
          <a:xfrm>
            <a:off x="454152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tus commits a GitHub / descargar los cambios nuevos.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807720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05800" y="427482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419" y="4428439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8304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700" dirty="0"/>
          </a:p>
        </p:txBody>
      </p:sp>
      <p:sp>
        <p:nvSpPr>
          <p:cNvPr id="36" name="Text 27"/>
          <p:cNvSpPr txBox="1"/>
          <p:nvPr/>
        </p:nvSpPr>
        <p:spPr>
          <a:xfrm>
            <a:off x="830580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para revisar e integrar los cambios de una rama en otra.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zonas de Git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71600" y="17830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083" y="199156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trabajo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editas tus archivos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29000" y="16002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17830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43" y="199156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6616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preparación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61188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irá en el próximo commit (staging)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309360" y="16002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2320" y="17830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3" y="1991563"/>
            <a:ext cx="451714" cy="45171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465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local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49224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commits en .git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189720" y="16002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012680" y="17830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163" y="1991563"/>
            <a:ext cx="451714" cy="45171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32688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remoto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937260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en GitHub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3081528" y="2926080"/>
            <a:ext cx="329184" cy="914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2514600" y="4526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251460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961888" y="2926080"/>
            <a:ext cx="329184" cy="914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5394960" y="4526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39496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8842248" y="2926080"/>
            <a:ext cx="329184" cy="914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8275320" y="4526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7532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48640" y="52578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22960" y="5257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editas index.html → </a:t>
            </a:r>
            <a:pPr indent="0" marL="0">
              <a:buNone/>
            </a:pPr>
            <a:r>
              <a:rPr lang="en-US" sz="160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index.html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prepara → </a:t>
            </a:r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guarda en tu historial → </a:t>
            </a:r>
            <a:pPr indent="0" marL="0">
              <a:buNone/>
            </a:pPr>
            <a:r>
              <a:rPr lang="en-US" sz="1600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sube a GitHub.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necesitas antes de crear tu primer repositorio: cuenta, Git instalado, identidad y autenticación.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crear tu cuenta en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956816" cy="2971800"/>
          </a:xfrm>
          <a:prstGeom prst="roundRect">
            <a:avLst>
              <a:gd name="adj" fmla="val 46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728216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862" y="19257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4688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github.com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880360"/>
            <a:ext cx="1636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«Sign up».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532888" y="308610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825496" y="1600200"/>
            <a:ext cx="1956816" cy="2971800"/>
          </a:xfrm>
          <a:prstGeom prst="roundRect">
            <a:avLst>
              <a:gd name="adj" fmla="val 46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08376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005072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718" y="19257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08376" y="24688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008376" y="2880360"/>
            <a:ext cx="1636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correo; GitHub enviará un código de verificación.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09744" y="308610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102352" y="1600200"/>
            <a:ext cx="1956816" cy="2971800"/>
          </a:xfrm>
          <a:prstGeom prst="roundRect">
            <a:avLst>
              <a:gd name="adj" fmla="val 46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85232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6281928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4" y="1925726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85232" y="24688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285232" y="2880360"/>
            <a:ext cx="1636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 y única. Te recomendamos un gestor de contraseñas.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086600" y="308610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379208" y="1600200"/>
            <a:ext cx="1956816" cy="2971800"/>
          </a:xfrm>
          <a:prstGeom prst="roundRect">
            <a:avLst>
              <a:gd name="adj" fmla="val 46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62088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8558784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430" y="1925726"/>
            <a:ext cx="309067" cy="30906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562088" y="24688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562088" y="2880360"/>
            <a:ext cx="1636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Será parte de tus URLs: github.com/tu-usuario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9363456" y="308610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9656064" y="1600200"/>
            <a:ext cx="1956816" cy="2971800"/>
          </a:xfrm>
          <a:prstGeom prst="roundRect">
            <a:avLst>
              <a:gd name="adj" fmla="val 46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838944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7" name="Shape 30"/>
          <p:cNvSpPr/>
          <p:nvPr/>
        </p:nvSpPr>
        <p:spPr>
          <a:xfrm>
            <a:off x="10835640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8286" y="1925726"/>
            <a:ext cx="309067" cy="30906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838944" y="24688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y protege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9838944" y="2880360"/>
            <a:ext cx="1636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correo y activa la verificación en dos pasos (2FA).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548640" y="484632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22960" y="489204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para el usuario: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nombre profesional (ej. ana-lopez-dev). Lo verán reclutadores y profesores.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6172200" y="484632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E7F0FB"/>
          </a:solidFill>
          <a:ln w="12700">
            <a:solidFill>
              <a:srgbClr val="E7F0F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6446520" y="489204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¿Eres estudiante?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el GitHub Student Developer Pack con tu correo escolar para obtener herramientas gratuitas.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instalar Git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517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instalador desde git-scm.com y acepta las opciones por defecto. Incluye «Git Bash», una terminal para usar Git.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" y="402336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05840" y="41605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88720" y="41605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71600" y="41605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51560" y="4434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--id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297680" y="150876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191292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4068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26517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git en la Terminal y acepta instalar las herramientas de línea de comandos, o usa Homebrew.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4572000" y="402336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41605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37760" y="41605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120640" y="41605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00600" y="4434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046720" y="150876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912925"/>
            <a:ext cx="380390" cy="38039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8972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8321040" y="26517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gestor de paquetes de tu distribución.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8321040" y="402336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03920" y="41605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686800" y="41605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869680" y="41605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549640" y="4434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48640" y="516636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31520" y="53035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14400" y="53035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097280" y="53035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371600" y="52395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 la instalación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777240" y="5577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--version</a:t>
            </a:r>
            <a:endParaRPr lang="en-US" sz="1600" dirty="0"/>
          </a:p>
        </p:txBody>
      </p:sp>
      <p:sp>
        <p:nvSpPr>
          <p:cNvPr id="43" name="Shape 37"/>
          <p:cNvSpPr/>
          <p:nvPr/>
        </p:nvSpPr>
        <p:spPr>
          <a:xfrm>
            <a:off x="6172200" y="5166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355080" y="527608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ESPERADA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6355080" y="5577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2.x.x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configurar tu identidad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se hace una sola vez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 nombre (aparecerá en cada commit)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user.name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López"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MISMO correo de tu cuenta de GitHub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user.email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"ana@ejemplo.com"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Nombre de la rama principal para repos nuevos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init.defaultBranch main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Revisar la configuración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--list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git config --list (extracto)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user.name=Ana López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user.email=ana@ejemplo.com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init.defaultbranch=main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user.name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real o de usuario. Git lo escribe en cada commit como autor.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user.email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correo de GitHub para que tus commits se vinculen a tu perfil.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init.defaultBranch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que git init cree la rama main, igual que GitHub.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 configuración a todos tus repositorios en esta computadora.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elegir cómo autenticarte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238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7452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token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https://github.com/usuario/repo.git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200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hacer push te pide usuario y contraseña: en la contraseña pegas un token personal (PAT), no tu contraseña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en Settings → Developer settings → Personal access tokens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Credential Manager y GitHub CLI pueden guardarlo por ti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172200" y="15087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92389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808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git@github.com:usuario/repo.git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200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Generas un par de llaves: la privada se queda en tu PC, la pública se sube a GitHub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ya no te pide credenciales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configura una vez por computadora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compartas tu token ni tu llave privada, y nunca los subas a un repositorio.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una llave SSH (opcional)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Git Bash, macOS o Linux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Generar el par de llaves (Enter para aceptar la ruta)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-keygen -t ed25519 -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"ana@ejemplo.com"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Ver la llave PÚBLICA para copiarla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~/.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/id_ed25519.pub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En GitHub: Settings &gt; SSH and GPG keys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&gt; New SSH key &gt; pegar la llave &gt; Add SSH key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Probar la conexión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@github.com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LA PRUEBA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ana-lopez-dev! You've successfully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authenticated, but GitHub does not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 shell access.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ssh-keygen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dos archivos: id_ed25519 (privada) e id_ed25519.pub (pública).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de contraseña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proteger la llave privada con una frase; es recomendable.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.pub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únicamente se sube la llave pública.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responde con tu usuario, la llave funciona.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con el método más sencillo: un formulario en github.com. Revisamos cada opción a detalle.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abrir el formulario «New repository»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6949440" cy="685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08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1645920"/>
            <a:ext cx="777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16459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▾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20840" y="1645920"/>
            <a:ext cx="411480" cy="41148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66360" y="164592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06240" y="224028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51960" y="2304288"/>
            <a:ext cx="2194560" cy="274320"/>
          </a:xfrm>
          <a:prstGeom prst="rect">
            <a:avLst/>
          </a:prstGeom>
          <a:solidFill>
            <a:srgbClr val="E7F0FB"/>
          </a:solidFill>
          <a:ln w="12700">
            <a:solidFill>
              <a:srgbClr val="E7F0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2596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repository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codespace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gist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organization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2194560"/>
            <a:ext cx="33832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repositories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697480" y="235915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97480" y="23591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286000" y="233172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2860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7240" y="292608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" y="338328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384048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" y="429768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31920" y="40233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148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repositories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63640" y="416052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63640" y="4160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852160" y="4133088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5216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114800" y="5897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simplificado de la interfaz; puede variar ligeramente.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863840" y="1600200"/>
            <a:ext cx="530352" cy="530352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124" y="1727484"/>
            <a:ext cx="275783" cy="27578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8622792" y="156362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«+» → New repository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8622792" y="1892808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barra superior, en cualquier página de GitHub.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7863840" y="2788920"/>
            <a:ext cx="530352" cy="530352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124" y="2916204"/>
            <a:ext cx="275783" cy="275783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622792" y="275234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verde «New»</a:t>
            </a:r>
            <a:endParaRPr lang="en-US" sz="1600" dirty="0"/>
          </a:p>
        </p:txBody>
      </p:sp>
      <p:sp>
        <p:nvSpPr>
          <p:cNvPr id="45" name="Text 40"/>
          <p:cNvSpPr txBox="1"/>
          <p:nvPr/>
        </p:nvSpPr>
        <p:spPr>
          <a:xfrm>
            <a:off x="8622792" y="3081528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página de inicio (dashboard), junto a tus repositorios.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7863840" y="3977640"/>
            <a:ext cx="530352" cy="530352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124" y="4104924"/>
            <a:ext cx="275783" cy="275783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8622792" y="394106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repositories → New</a:t>
            </a:r>
            <a:endParaRPr lang="en-US" sz="1600" dirty="0"/>
          </a:p>
        </p:txBody>
      </p:sp>
      <p:sp>
        <p:nvSpPr>
          <p:cNvPr id="49" name="Text 43"/>
          <p:cNvSpPr txBox="1"/>
          <p:nvPr/>
        </p:nvSpPr>
        <p:spPr>
          <a:xfrm>
            <a:off x="8622792" y="4270248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tu perfil, en la pestaña Repositories.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7863840" y="5166360"/>
            <a:ext cx="530352" cy="530352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124" y="5293644"/>
            <a:ext cx="275783" cy="275783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8622792" y="512978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 directo</a:t>
            </a:r>
            <a:endParaRPr lang="en-US" sz="1600" dirty="0"/>
          </a:p>
        </p:txBody>
      </p:sp>
      <p:sp>
        <p:nvSpPr>
          <p:cNvPr id="53" name="Text 46"/>
          <p:cNvSpPr txBox="1"/>
          <p:nvPr/>
        </p:nvSpPr>
        <p:spPr>
          <a:xfrm>
            <a:off x="8622792" y="5458968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el navegador github.com/new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el formulario «Create a new repository»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94944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81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repository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*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21284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" y="22128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ana-lopez-dev ▾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2212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 *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2212848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10128" y="221284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mi-portafolio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26974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(optional)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2990088"/>
            <a:ext cx="5989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6968" y="2990088"/>
            <a:ext cx="5769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portafolio personal de proyectos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214884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57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03720" y="2212848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037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903720" y="2990088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0372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379476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E6F4EA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3794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Public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verlo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794760" y="379476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31920" y="3794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Private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tú y quien invites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03720" y="388620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037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this repository with: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4864608"/>
            <a:ext cx="201168" cy="20116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483717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" y="4818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README file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template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77240" y="5431536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86968" y="543153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▾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3886200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886200" y="5431536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95928" y="543153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▾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903720" y="475488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9037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903720" y="539496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90372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983480" y="589788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983480" y="5897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526280" y="589788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526280" y="5897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7863840" y="1417320"/>
            <a:ext cx="3794760" cy="4983480"/>
          </a:xfrm>
          <a:prstGeom prst="roundRect">
            <a:avLst>
              <a:gd name="adj" fmla="val 241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809244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del formulario</a:t>
            </a:r>
            <a:endParaRPr lang="en-US" sz="1700" dirty="0"/>
          </a:p>
        </p:txBody>
      </p:sp>
      <p:sp>
        <p:nvSpPr>
          <p:cNvPr id="52" name="Shape 49"/>
          <p:cNvSpPr/>
          <p:nvPr/>
        </p:nvSpPr>
        <p:spPr>
          <a:xfrm>
            <a:off x="8092440" y="214884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0924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8595360" y="21305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(Owner)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8092440" y="2734056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924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8595360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repositorio</a:t>
            </a:r>
            <a:endParaRPr lang="en-US" sz="1450" dirty="0"/>
          </a:p>
        </p:txBody>
      </p:sp>
      <p:sp>
        <p:nvSpPr>
          <p:cNvPr id="58" name="Shape 55"/>
          <p:cNvSpPr/>
          <p:nvPr/>
        </p:nvSpPr>
        <p:spPr>
          <a:xfrm>
            <a:off x="8092440" y="3319272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0924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8595360" y="33009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450" dirty="0"/>
          </a:p>
        </p:txBody>
      </p:sp>
      <p:sp>
        <p:nvSpPr>
          <p:cNvPr id="61" name="Shape 58"/>
          <p:cNvSpPr/>
          <p:nvPr/>
        </p:nvSpPr>
        <p:spPr>
          <a:xfrm>
            <a:off x="8092440" y="3904488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0924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8595360" y="38862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450" dirty="0"/>
          </a:p>
        </p:txBody>
      </p:sp>
      <p:sp>
        <p:nvSpPr>
          <p:cNvPr id="64" name="Shape 61"/>
          <p:cNvSpPr/>
          <p:nvPr/>
        </p:nvSpPr>
        <p:spPr>
          <a:xfrm>
            <a:off x="8092440" y="4489704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0924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3"/>
          <p:cNvSpPr txBox="1"/>
          <p:nvPr/>
        </p:nvSpPr>
        <p:spPr>
          <a:xfrm>
            <a:off x="8595360" y="447141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README</a:t>
            </a:r>
            <a:endParaRPr lang="en-US" sz="1450" dirty="0"/>
          </a:p>
        </p:txBody>
      </p:sp>
      <p:sp>
        <p:nvSpPr>
          <p:cNvPr id="67" name="Shape 64"/>
          <p:cNvSpPr/>
          <p:nvPr/>
        </p:nvSpPr>
        <p:spPr>
          <a:xfrm>
            <a:off x="8092440" y="507492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0924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9" name="Text 66"/>
          <p:cNvSpPr txBox="1"/>
          <p:nvPr/>
        </p:nvSpPr>
        <p:spPr>
          <a:xfrm>
            <a:off x="8595360" y="50566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y licencia</a:t>
            </a:r>
            <a:endParaRPr lang="en-US" sz="1450" dirty="0"/>
          </a:p>
        </p:txBody>
      </p:sp>
      <p:sp>
        <p:nvSpPr>
          <p:cNvPr id="70" name="Shape 67"/>
          <p:cNvSpPr/>
          <p:nvPr/>
        </p:nvSpPr>
        <p:spPr>
          <a:xfrm>
            <a:off x="8092440" y="5660136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0924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8595360" y="56418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Create repository</a:t>
            </a:r>
            <a:endParaRPr lang="en-US" sz="1450" dirty="0"/>
          </a:p>
        </p:txBody>
      </p:sp>
      <p:sp>
        <p:nvSpPr>
          <p:cNvPr id="73" name="Text 70"/>
          <p:cNvSpPr txBox="1"/>
          <p:nvPr/>
        </p:nvSpPr>
        <p:spPr>
          <a:xfrm>
            <a:off x="8092440" y="5989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campo obligatorio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② ③ Propietario, nombre y descripción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995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6093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Owner (propietario)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938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usuario personal o una organización (por ejemplo, la de tu escuela o equipo).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21685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02666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Repository name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35584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y único dentro de tu cuenta. GitHub te avisa si ya existe.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63417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4439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Description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77316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Opcional. Una frase que explica el proyecto; aparece en tu perfil y en búsquedas.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675120" y="1508760"/>
            <a:ext cx="4983480" cy="4846320"/>
          </a:xfrm>
          <a:prstGeom prst="roundRect">
            <a:avLst>
              <a:gd name="adj" fmla="val 18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94944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y consejos para el nombre</a:t>
            </a:r>
            <a:endParaRPr lang="en-US" sz="17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34086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6092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mi-portafolio</a:t>
            </a:r>
            <a:pPr indent="0" marL="0">
              <a:buNone/>
            </a:pP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90779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360920" y="28529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control-escolar-api</a:t>
            </a:r>
            <a:pPr indent="0" marL="0">
              <a:buNone/>
            </a:pP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47472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360920" y="3419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Portafolio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los espacios se convierten en guiones</a:t>
            </a:r>
            <a:endParaRPr lang="en-US" sz="14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041648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360920" y="3986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final!!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evita símbolos especiales</a:t>
            </a:r>
            <a:endParaRPr lang="en-US" sz="14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4608576"/>
            <a:ext cx="292608" cy="29260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360920" y="45537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asdf123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no describe el proyecto</a:t>
            </a:r>
            <a:endParaRPr lang="en-US" sz="1400" dirty="0"/>
          </a:p>
        </p:txBody>
      </p:sp>
      <p:sp>
        <p:nvSpPr>
          <p:cNvPr id="31" name="Text 20"/>
          <p:cNvSpPr txBox="1"/>
          <p:nvPr/>
        </p:nvSpPr>
        <p:spPr>
          <a:xfrm>
            <a:off x="6949440" y="52120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minúsculas y guiones (kebab-case). Se permiten letras, números, guiones (-), guiones bajos (_) y puntos (.).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Visibilidad: público o privado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238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7452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974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en internet puede ver y clonar el repositorio. Solo tú (y tus colaboradores) pueden modificarlo.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06908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Portafolios y proyectos escolares para mostrar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código abierto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con GitHub Pages en cuentas gratuitas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72200" y="15087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9238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9808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26974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tú y las personas que invites como colaboradores pueden verlo.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406908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no deben copiarse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clientes o de la empresa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con información que no es pública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548640" y="5943600"/>
            <a:ext cx="11064240" cy="411480"/>
          </a:xfrm>
          <a:prstGeom prst="roundRect">
            <a:avLst>
              <a:gd name="adj" fmla="val 22222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sea privado, nunca subas contraseñas ni tokens: usa variables de entorno y .gitignore.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⑥ README, .gitignore y licencia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presentación del proyecto en formato Markdown. Es lo primero que se muestra en la página del repositorio.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480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hace, cómo instalarlo, cómo usarlo y autores.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97680" y="150876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19129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4068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archivos y carpetas que Git debe ignorar. GitHub ofrece plantillas por lenguaje: Python, Node, Java…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4480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node_modules/, __pycache__/, .env, archivos del sistema.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46720" y="150876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91292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8972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qué pueden hacer otros con tu código. Sin licencia, legalmente nadie puede reutilizarlo.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32104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4480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para proyectos personales y escolares abiertos.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2296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¿empiezas desde cero? Marca README. ¿Ya tienes el proyecto en tu PC? Crea el repositorio vacío, sin README, .gitignore ni licencia.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licencia elegir?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3291840"/>
                <a:gridCol w="274320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permite?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 principal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Usar, copiar, modificar y vender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Conservar el aviso de copyright y la licencia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personales, escolares y bibliotecas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mismo que MIT e incluye una cláusula de patentes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Conservar avisos e indicar los cambios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empresariales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GNU GPL v3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Usar, modificar y distribuir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versiones distribuidas deben ser también GPL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libre que debe seguir abierto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licencia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ver el código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derechos reservados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que no quieres que reutilicen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la licencia se puede agregar después creando un archivo LICENSE; GitHub ofrece plantillas.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Create repository: ¿qué verás después?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91292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README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51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la página del repositorio con tus archivos (README.md, LICENSE) y un primer commit «Initial commit».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7947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clonarlo con el botón verde «Code».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68680" y="4480560"/>
            <a:ext cx="4800600" cy="1645920"/>
          </a:xfrm>
          <a:prstGeom prst="roundRect">
            <a:avLst>
              <a:gd name="adj" fmla="val 555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51560" y="4617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234440" y="4617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17320" y="4617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97280" y="489204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https://github.com/ana-lopez-dev/mi-portafolio.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7220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1737360"/>
            <a:ext cx="731520" cy="73152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191292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(sin archivos)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2651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la página «Quick setup» con la URL del repositorio y los comandos para conectarlo desde tu computadora.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492240" y="37947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subir tu proyecto local (ejemplo 2).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492240" y="4480560"/>
            <a:ext cx="4800600" cy="1645920"/>
          </a:xfrm>
          <a:prstGeom prst="roundRect">
            <a:avLst>
              <a:gd name="adj" fmla="val 555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75120" y="4617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0" y="4617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040880" y="4617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720840" y="489204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https://github.com/...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-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main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la página de un repositorio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94944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813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ana-lopez-dev / </a:t>
            </a:r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mi-portafolio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Public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" y="150876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2240280"/>
            <a:ext cx="557784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517904" y="1920240"/>
            <a:ext cx="813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19202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904488" y="192024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92024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49440" y="1892808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2304288"/>
            <a:ext cx="69494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423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▾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2423160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C9D1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83080" y="2404872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83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26480" y="24231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 Code ▾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0" y="2404872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692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77240" y="2926080"/>
            <a:ext cx="6537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2926080"/>
            <a:ext cx="653796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29260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ana-lopez-dev  Initial commit          1 commit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49440" y="292608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9494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LICENSE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914400" y="3730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README.md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4096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index.html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77240" y="4663440"/>
            <a:ext cx="6537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portafolio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91440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personal de proyectos escolares.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949440" y="466344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949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7818120" y="146304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8181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321040" y="1417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visibilidad</a:t>
            </a:r>
            <a:endParaRPr lang="en-US" sz="1450" dirty="0"/>
          </a:p>
        </p:txBody>
      </p:sp>
      <p:sp>
        <p:nvSpPr>
          <p:cNvPr id="45" name="Text 42"/>
          <p:cNvSpPr txBox="1"/>
          <p:nvPr/>
        </p:nvSpPr>
        <p:spPr>
          <a:xfrm>
            <a:off x="8321040" y="1737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repositorio, con su etiqueta Public o Private.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818120" y="228600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18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8321040" y="2240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</a:t>
            </a:r>
            <a:endParaRPr lang="en-US" sz="1450" dirty="0"/>
          </a:p>
        </p:txBody>
      </p:sp>
      <p:sp>
        <p:nvSpPr>
          <p:cNvPr id="49" name="Text 46"/>
          <p:cNvSpPr txBox="1"/>
          <p:nvPr/>
        </p:nvSpPr>
        <p:spPr>
          <a:xfrm>
            <a:off x="8321040" y="25603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Issues (tareas y errores), Pull requests, Actions y Settings.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818120" y="310896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8181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8321040" y="3063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rama</a:t>
            </a:r>
            <a:endParaRPr lang="en-US" sz="1450" dirty="0"/>
          </a:p>
        </p:txBody>
      </p:sp>
      <p:sp>
        <p:nvSpPr>
          <p:cNvPr id="53" name="Text 50"/>
          <p:cNvSpPr txBox="1"/>
          <p:nvPr/>
        </p:nvSpPr>
        <p:spPr>
          <a:xfrm>
            <a:off x="8321040" y="3383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entre main y otras ramas.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818120" y="393192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8181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832104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Code</a:t>
            </a:r>
            <a:endParaRPr lang="en-US" sz="1450" dirty="0"/>
          </a:p>
        </p:txBody>
      </p:sp>
      <p:sp>
        <p:nvSpPr>
          <p:cNvPr id="57" name="Text 54"/>
          <p:cNvSpPr txBox="1"/>
          <p:nvPr/>
        </p:nvSpPr>
        <p:spPr>
          <a:xfrm>
            <a:off x="8321040" y="4206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la URL para clonar (HTTPS o SSH) o descarga un ZIP.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7818120" y="475488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8181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8321040" y="4709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commit</a:t>
            </a:r>
            <a:endParaRPr lang="en-US" sz="1450" dirty="0"/>
          </a:p>
        </p:txBody>
      </p:sp>
      <p:sp>
        <p:nvSpPr>
          <p:cNvPr id="61" name="Text 58"/>
          <p:cNvSpPr txBox="1"/>
          <p:nvPr/>
        </p:nvSpPr>
        <p:spPr>
          <a:xfrm>
            <a:off x="8321040" y="50292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hizo el último cambio y el total de commits.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7818120" y="5577840"/>
            <a:ext cx="384048" cy="384048"/>
          </a:xfrm>
          <a:prstGeom prst="ellipse">
            <a:avLst/>
          </a:prstGeom>
          <a:solidFill>
            <a:srgbClr val="F088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81812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8321040" y="5532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450" dirty="0"/>
          </a:p>
        </p:txBody>
      </p:sp>
      <p:sp>
        <p:nvSpPr>
          <p:cNvPr id="65" name="Text 62"/>
          <p:cNvSpPr txBox="1"/>
          <p:nvPr/>
        </p:nvSpPr>
        <p:spPr>
          <a:xfrm>
            <a:off x="8321040" y="5852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automáticamente debajo de los archivos.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configuración después de crearlo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nombre, la rama por defecto y activar Issues o Wiki.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1292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41520" y="1737360"/>
            <a:ext cx="640080" cy="64008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139" y="189097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1876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4152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Invitar compañeros para que puedan hacer push.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7720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05800" y="1737360"/>
            <a:ext cx="640080" cy="64008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419" y="189097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8304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/ Rules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830580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main: exigir pull request y revisión antes de integrar.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640080" cy="64008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42843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 sitio web desde el repositorio (ejemplo 1).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31292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41520" y="4274820"/>
            <a:ext cx="640080" cy="64008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139" y="442843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1876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variables</a:t>
            </a:r>
            <a:endParaRPr lang="en-US" sz="1700" dirty="0"/>
          </a:p>
        </p:txBody>
      </p:sp>
      <p:sp>
        <p:nvSpPr>
          <p:cNvPr id="31" name="Text 23"/>
          <p:cNvSpPr txBox="1"/>
          <p:nvPr/>
        </p:nvSpPr>
        <p:spPr>
          <a:xfrm>
            <a:off x="454152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contraseñas para GitHub Actions sin escribirlas en el código.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807720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05800" y="4274820"/>
            <a:ext cx="640080" cy="640080"/>
          </a:xfrm>
          <a:prstGeom prst="ellipse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419" y="4428439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8304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</a:t>
            </a:r>
            <a:endParaRPr lang="en-US" sz="1700" dirty="0"/>
          </a:p>
        </p:txBody>
      </p:sp>
      <p:sp>
        <p:nvSpPr>
          <p:cNvPr id="36" name="Text 27"/>
          <p:cNvSpPr txBox="1"/>
          <p:nvPr/>
        </p:nvSpPr>
        <p:spPr>
          <a:xfrm>
            <a:off x="830580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visibilidad, transferir, archivar o eliminar el repositorio.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métodos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repositorios sin salir de la terminal o desde aplicaciones de escritorio.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MÉTODOS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terminal: GitHub CLI (gh)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Instalar GitHub CLI (cli.github.com)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--id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      </a:t>
            </a:r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Iniciar sesión (abre el navegador)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 login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Crear un repositorio nuevo y clonarlo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repo create mi-api --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--add-readme \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--license mit --gitignore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--clone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O subir la carpeta actual como repositorio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repo create mi-api --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--source=. \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--remote=origin --push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PASO 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repository ana-lopez-dev/mi-api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'mi-api'...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auth login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guía paso a paso y guarda tus credenciales; ya no necesitas crear un token a mano.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--public / --private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la opción de visibilidad del formulario web.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--add-readme --license --gitignore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opciones de inicialización que en la web.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--source=. --push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carpeta actual, crea el remoto origin y sube tus commits.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MÉTODOS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aplicaciones de escritorio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238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7452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0969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7157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desde desktop.github.com e inicia sesión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68680" y="3657600"/>
            <a:ext cx="384048" cy="384048"/>
          </a:xfrm>
          <a:prstGeom prst="ellipse">
            <a:avLst/>
          </a:prstGeom>
          <a:solidFill>
            <a:srgbClr val="0969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86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5844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repository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0969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686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417320" y="445312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nombre, descripción y carpeta; elige .gitignore y licencia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868680" y="5394960"/>
            <a:ext cx="384048" cy="384048"/>
          </a:xfrm>
          <a:prstGeom prst="ellipse">
            <a:avLst/>
          </a:prstGeom>
          <a:solidFill>
            <a:srgbClr val="0969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6868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53218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«Publish repository» y elige si será privado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17220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923898"/>
            <a:ext cx="404165" cy="40416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49808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2300" dirty="0"/>
          </a:p>
        </p:txBody>
      </p:sp>
      <p:sp>
        <p:nvSpPr>
          <p:cNvPr id="27" name="Shape 22"/>
          <p:cNvSpPr/>
          <p:nvPr/>
        </p:nvSpPr>
        <p:spPr>
          <a:xfrm>
            <a:off x="6492240" y="2788920"/>
            <a:ext cx="384048" cy="384048"/>
          </a:xfrm>
          <a:prstGeom prst="ellipse">
            <a:avLst/>
          </a:prstGeom>
          <a:solidFill>
            <a:srgbClr val="8250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922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7040880" y="27157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carpeta del proyecto</a:t>
            </a:r>
            <a:endParaRPr lang="en-US" sz="1450" dirty="0"/>
          </a:p>
        </p:txBody>
      </p:sp>
      <p:sp>
        <p:nvSpPr>
          <p:cNvPr id="30" name="Shape 25"/>
          <p:cNvSpPr/>
          <p:nvPr/>
        </p:nvSpPr>
        <p:spPr>
          <a:xfrm>
            <a:off x="6492240" y="3657600"/>
            <a:ext cx="384048" cy="384048"/>
          </a:xfrm>
          <a:prstGeom prst="ellipse">
            <a:avLst/>
          </a:prstGeom>
          <a:solidFill>
            <a:srgbClr val="8250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92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7040880" y="35844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al panel Source Control (Ctrl+Shift+G)</a:t>
            </a:r>
            <a:endParaRPr lang="en-US" sz="1450" dirty="0"/>
          </a:p>
        </p:txBody>
      </p:sp>
      <p:sp>
        <p:nvSpPr>
          <p:cNvPr id="33" name="Shape 28"/>
          <p:cNvSpPr/>
          <p:nvPr/>
        </p:nvSpPr>
        <p:spPr>
          <a:xfrm>
            <a:off x="6492240" y="4526280"/>
            <a:ext cx="384048" cy="384048"/>
          </a:xfrm>
          <a:prstGeom prst="ellipse">
            <a:avLst/>
          </a:prstGeom>
          <a:solidFill>
            <a:srgbClr val="8250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4922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7040880" y="445312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«Publish to GitHub» e inicia sesión</a:t>
            </a:r>
            <a:endParaRPr lang="en-US" sz="1450" dirty="0"/>
          </a:p>
        </p:txBody>
      </p:sp>
      <p:sp>
        <p:nvSpPr>
          <p:cNvPr id="36" name="Shape 31"/>
          <p:cNvSpPr/>
          <p:nvPr/>
        </p:nvSpPr>
        <p:spPr>
          <a:xfrm>
            <a:off x="6492240" y="5394960"/>
            <a:ext cx="384048" cy="384048"/>
          </a:xfrm>
          <a:prstGeom prst="ellipse">
            <a:avLst/>
          </a:prstGeom>
          <a:solidFill>
            <a:srgbClr val="8250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922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7040880" y="53218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repositorio público o privado y los archivos a incluir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MÉTODOS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métodos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1828800"/>
                <a:gridCol w="39319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Sitio web (github.com/new)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fácil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Principiantes; proyectos nuevos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sitio web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un proyecto que ya existe en tu PC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CLI (gh)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trabaja en la terminal; automatizar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Desktop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prefiere una interfaz gráfica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el proyecto que ya tienes abierto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portafolio web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repositorio desde la web, clonarlo, agregar una página y publicarla con GitHub Pages.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PLANTEAMIENTO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portafolio publicado en internet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5864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51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quiere mostrar sus proyectos escolares en una página web pública, gratis y con historial de cambios.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que usará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177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mi-portafolio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035040" y="1508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035040" y="2057400"/>
            <a:ext cx="502920" cy="5029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41" y="217810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66560" y="202082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repositorio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0" y="23500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formulario web y README.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035040" y="2807208"/>
            <a:ext cx="502920" cy="5029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292790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66560" y="27706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Clonarlo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766560" y="309981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Descargarlo a la computadora.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035040" y="3557016"/>
            <a:ext cx="502920" cy="5029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1" y="3677717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766560" y="35204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766560" y="384962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index.html y mejorar el README.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4306824"/>
            <a:ext cx="502920" cy="5029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1" y="4427525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766560" y="42702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 push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6766560" y="45994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la versión y subirla.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035040" y="5056632"/>
            <a:ext cx="502920" cy="5029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741" y="5177333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766560" y="50200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con Pages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6766560" y="53492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el sitio web gratuito.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6035040" y="5852160"/>
            <a:ext cx="5623560" cy="502920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6217920" y="58521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https://ana-lopez-dev.github.io/mi-portafolio/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1 y 2: crear el repositorio y copiar su URL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6861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github.com/new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4708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ana-lopez-dev · Name: mi-portafolio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6462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47802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280720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 portafolio personal de proyectos»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60639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43814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Public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376732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para GitHub Pages en una cuenta gratuita.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56651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39826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«Add a README file»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472744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 MIT License. .gitignore: None.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526634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325880" y="535838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«Create repository»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325880" y="5687568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repo con README.md, LICENSE y el primer commit.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858000" y="1508760"/>
            <a:ext cx="4800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704088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«&lt;&gt; Code» → pestaña Local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704088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SSH     GitHub CLI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040880" y="2423160"/>
            <a:ext cx="4434840" cy="438912"/>
          </a:xfrm>
          <a:prstGeom prst="roundRect">
            <a:avLst>
              <a:gd name="adj" fmla="val 10417"/>
            </a:avLst>
          </a:prstGeom>
          <a:solidFill>
            <a:srgbClr val="F6F8FA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7132320" y="24231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https://github.com/ana-lopez-dev/mi-portafolio.git  ⧉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7040880" y="2971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ícono ⧉ para copiar la URL.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40880" y="34290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GitHub Desktop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ZIP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858000" y="4663440"/>
            <a:ext cx="4800600" cy="1691640"/>
          </a:xfrm>
          <a:prstGeom prst="roundRect">
            <a:avLst>
              <a:gd name="adj" fmla="val 5405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132320" y="470916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¿HTTPS o SSH?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configuraste una llave SSH, copia la URL de la pestaña SSH. Si no, usa HTTPS y autentícate con un token o con GitHub CLI.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clonar el repositorio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Ir a la carpeta donde guardas tus proyectos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Descargar el repositorio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https://github.com/ana-lopez-dev/mi-portafolio.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Entrar a la carpeta creada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mi-portafolio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los archivos y el estado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'mi-portafolio'...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  README.md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commit, working tree clean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Documentos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ubicas donde quieres crear la carpeta del proyecto.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carpeta mi-portafolio con todos los archivos y el historial.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configurado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clon ya trae el remoto origin apuntando a GitHub.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estás en main y sin cambios pendientes.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crear la página y editar el README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85216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54864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html&gt;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"es"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&lt;meta charset=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&lt;title&gt;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Portafolio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&lt;h1&gt;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soy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ópez&lt;/h1&gt;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&lt;p&gt;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ía en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.&lt;/p&gt;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&lt;h2&gt;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proyectos&lt;/h2&gt;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&lt;ul&gt;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&lt;li&gt;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escolar en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&lt;li&gt;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&lt;/ul&gt;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1371600"/>
            <a:ext cx="4983480" cy="3246120"/>
          </a:xfrm>
          <a:prstGeom prst="roundRect">
            <a:avLst>
              <a:gd name="adj" fmla="val 28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2376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14447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(Markdown)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17830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 portafolio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Portafolio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personal de proyectos escolares.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Ver en línea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https://ana-lopez-dev.github.io/mi-portafolio/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Tecnologías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75120" y="480060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en 10 segundos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  </a:t>
            </a:r>
            <a:pPr indent="0" marL="0">
              <a:buNone/>
            </a:pPr>
            <a:r>
              <a:rPr lang="en-US" sz="13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   </a:t>
            </a:r>
            <a:pPr indent="0" marL="0">
              <a:buNone/>
            </a:pPr>
            <a:r>
              <a:rPr lang="en-US" sz="13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  </a:t>
            </a:r>
            <a:pPr indent="0" marL="0">
              <a:buNone/>
            </a:pPr>
            <a:r>
              <a:rPr lang="en-US" sz="13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**texto**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negritas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guardar (commit) y subir (push)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¿Qué cambió?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Preparar los archivos para el commit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index.html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Guardar la versión con un mensaje claro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"Agrega página principal del portafolio"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a GitHub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git push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https://github.com/ana-lopez-dev/mi-portafolio.git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a1b2c3d..e4f5a6b  main -&gt; main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index.html como nuevo (untracked) y README.md como modificado.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ambos archivos al área de preparación. Con git add . agregas todo.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versión en tu historial local. El mensaje dice QUÉ cambió.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el commit a GitHub. Como el repo fue clonado, ya sabe a dónde subirlo.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publicar con GitHub Pages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97430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076" y="19257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repositorio, abre la pestaña Settings.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02102" y="292608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9471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7759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143500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46" y="19257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7759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57759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 lateral, sección Code and automation → Pages.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948172" y="292608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24078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2366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7989570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216" y="1925726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2366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2366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«Deploy from a branch»; rama main y carpeta / (root). Save.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794242" y="292608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08685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26973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10835640" y="1783080"/>
            <a:ext cx="594360" cy="59436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286" y="1925726"/>
            <a:ext cx="309067" cy="30906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26973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26973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uno o dos minutos aparece el enlace de tu sitio.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48640" y="4526280"/>
            <a:ext cx="6766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48640" y="4526280"/>
            <a:ext cx="6766560" cy="3657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3152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ana-lopez-dev.github.io/mi-portafolio/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777240" y="4983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soy Ana López</a:t>
            </a:r>
            <a:endParaRPr lang="en-US" sz="2000" dirty="0"/>
          </a:p>
        </p:txBody>
      </p:sp>
      <p:sp>
        <p:nvSpPr>
          <p:cNvPr id="38" name="Text 31"/>
          <p:cNvSpPr txBox="1"/>
          <p:nvPr/>
        </p:nvSpPr>
        <p:spPr>
          <a:xfrm>
            <a:off x="777240" y="5440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de Ingeniería en Sistemas.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77724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proyectos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7589520" y="4526280"/>
            <a:ext cx="4069080" cy="182880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7818120" y="45720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nombras el repositorio </a:t>
            </a:r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ana-lopez-dev.github.io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sitio se publica en la raíz: https://ana-lopez-dev.github.io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REPO DESDE LA WEB · EXPLICACIÓN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¿qué hicimos y por qué?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4447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inicializado en la web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1051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marcar README y licencia, GitHub creó el primer commit; por eso pudimos clonarlo directamente.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79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en lugar de git init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4495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descarga los archivos y configura origin; no hubo que conectar nada a mano.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136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editar → add → commit → push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7939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ciclo que repetirás todos los días. Cada commit es un punto al que puedes volver.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1480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51383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repositorio en un sitio web gratis. Cada git push actualiza la página automáticamente.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18120" y="1463040"/>
            <a:ext cx="3840480" cy="297180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aplicados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25856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50392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New repository</a:t>
            </a:r>
            <a:endParaRPr lang="en-US" sz="15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8892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503920" y="2724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y licencia</a:t>
            </a:r>
            <a:endParaRPr lang="en-US" sz="15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31927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503920" y="32552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15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849624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503920" y="37856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818120" y="4617720"/>
            <a:ext cx="3840480" cy="1783080"/>
          </a:xfrm>
          <a:prstGeom prst="roundRect">
            <a:avLst>
              <a:gd name="adj" fmla="val 512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80060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50392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practicar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046720" y="52578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 archivo estilos.css, enlázalo en index.html y súbelo con un commit. Revisa que el sitio cambie.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proyecto local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GitHub un proyecto que ya existe en tu computadora y trabajar con ramas y pull requests.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PLANTEAMIENTO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 proyecto que ya existe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5864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3 estudiantes tiene un sistema de control escolar en Python en la laptop de Luis. Quieren subirlo a GitHub para trabajar juntos.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¡Cuidado con lo que se sube!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6177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carpeta tiene un archivo .env con la contraseña de la base de datos, el entorno virtual venv/ (cientos de MB) y __pycache__/. Nada de eso debe llegar a GitHub.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943600" y="1508760"/>
            <a:ext cx="5715000" cy="274320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6459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16459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16459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66560" y="15819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 del proyecto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172200" y="19202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control-escolar/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alumnos.py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        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contraseña: NO subir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venv/       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entorno virtual: NO subir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__pycache__/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archivos temporales: NO subir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43600" y="4434840"/>
            <a:ext cx="5715000" cy="1920240"/>
          </a:xfrm>
          <a:prstGeom prst="roundRect">
            <a:avLst>
              <a:gd name="adj" fmla="val 476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21792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217920" y="489204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y .gitignore</a:t>
            </a:r>
            <a:endParaRPr lang="en-US" sz="13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commit local</a:t>
            </a:r>
            <a:endParaRPr lang="en-US" sz="13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repositorio VACÍO en GitHub</a:t>
            </a:r>
            <a:endParaRPr lang="en-US" sz="13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(remote) y subir (push)</a:t>
            </a:r>
            <a:endParaRPr lang="en-US" sz="13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ramas y pull requests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iniciar Git y crear .gitignore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control-escolar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Convertir la carpeta en repositorio (crea .git/)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el archivo .gitignore con su contenido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"venv/"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.gitignore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"__pycache__/"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&gt;&gt; .gitignore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".env"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&gt;&gt; .gitignore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Comprobar qué archivos verá Git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git status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  alumnos.py  main.py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carpeta oculta .git. Desde ahora Git puede registrar versiones; la rama será main.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es un patrón a ignorar. &gt; crea el archivo y &gt;&gt; agrega líneas.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primer commit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.gitignore ANTES de git add para no registrar archivos sensibles.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aparecen venv/, __pycache__/ ni .env.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primer commit local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todos los archivos (respeta .gitignore)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Revisar lo que se va a guardar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el primer commit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"Versión inicial del sistema de control escolar"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el historial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 --oneline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git log --oneline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3f9c2a1 (HEAD -&gt; main) Versión inicial 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sistema de control escolar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significa «todo lo de esta carpeta», excepto lo ignorado.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antes de guardar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muestra en verde lo que entrará al commit. Verifica que no esté .env.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commit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guardado en tu PC. GitHub todavía no sabe nada de él.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historial resumido: identificador corto y mensaje.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crear el repositorio VACÍO en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03504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81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repository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 *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212848"/>
            <a:ext cx="5577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" y="2212848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control-escolar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974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2990088"/>
            <a:ext cx="5577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" y="2990088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escolar en Python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 ○ Public   ◉ Private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069080"/>
            <a:ext cx="5577840" cy="1600200"/>
          </a:xfrm>
          <a:prstGeom prst="rect">
            <a:avLst/>
          </a:prstGeom>
          <a:solidFill>
            <a:srgbClr val="FFEBE9"/>
          </a:solidFill>
          <a:ln w="19050">
            <a:solidFill>
              <a:srgbClr val="CF222E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960120" y="41148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Add a README file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.gitignore template: None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License: None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411480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VACÍO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069080" y="585216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5852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949440" y="1600200"/>
            <a:ext cx="566928" cy="56692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5503" y="1736263"/>
            <a:ext cx="294803" cy="29480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744968" y="156362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744968" y="1892808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proyecto escolar del equipo; después se invita a los compañeros.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949440" y="3154680"/>
            <a:ext cx="566928" cy="56692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503" y="3290743"/>
            <a:ext cx="294803" cy="29480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744968" y="311810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README, .gitignore ni licencia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744968" y="3447288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ya tiene su propio .gitignore y su primer commit.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949440" y="4709160"/>
            <a:ext cx="566928" cy="56692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503" y="4845223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744968" y="46725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la URL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744968" y="5001768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la página Quick setup con la URL y los comandos para conectar.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conectar el remoto y subir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comandos de la página Quick setup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Conectar tu repo local con el de GitHub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https://github.com/luis-dev/control-escolar.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la conexión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-v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Asegurar que la rama se llame main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-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Primer push: -u recuerda la rama remota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main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PUSH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https://github.com/luis-dev/control-escolar.git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[new branch]      main -&gt; 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'main' set up to track 'origin/main'.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origin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URL del repo en GitHub con el nombre «origin».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-v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las URLs de fetch y push para confirmar.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-M main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 la rama a main por si tu Git usa master.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main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los commits. -u enlaza main con origin/main; después basta con git push.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invitar al equipo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97430" y="1783080"/>
            <a:ext cx="594360" cy="59436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076" y="19257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 control-escolar.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02102" y="292608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9471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7759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143500" y="1783080"/>
            <a:ext cx="594360" cy="59436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46" y="19257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7759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57759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→ Collaborators (puede pedir tu contraseña).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948172" y="292608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24078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2366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7989570" y="1783080"/>
            <a:ext cx="594360" cy="59436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216" y="1925726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2366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people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2366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usuario o correo de cada compañero.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794242" y="2926080"/>
            <a:ext cx="265176" cy="914"/>
          </a:xfrm>
          <a:prstGeom prst="line">
            <a:avLst/>
          </a:prstGeom>
          <a:noFill/>
          <a:ln w="3175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086850" y="1600200"/>
            <a:ext cx="2526030" cy="2651760"/>
          </a:xfrm>
          <a:prstGeom prst="roundRect">
            <a:avLst>
              <a:gd name="adj" fmla="val 362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26973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10835640" y="1783080"/>
            <a:ext cx="594360" cy="59436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286" y="1925726"/>
            <a:ext cx="309067" cy="30906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269730" y="2468880"/>
            <a:ext cx="22059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269730" y="2880360"/>
            <a:ext cx="22059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compañero acepta la invitación desde su correo o su perfil.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48640" y="452628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31520" y="46634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14400" y="46634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97280" y="46634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371600" y="459943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compañeros del equipo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77240" y="493776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compañero descarga el proyecto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https://github.com/luis-dev/control-escolar.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control-escolar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7589520" y="4526280"/>
            <a:ext cx="4069080" cy="1828800"/>
          </a:xfrm>
          <a:prstGeom prst="roundRect">
            <a:avLst>
              <a:gd name="adj" fmla="val 5000"/>
            </a:avLst>
          </a:prstGeom>
          <a:solidFill>
            <a:srgbClr val="E7F0FB"/>
          </a:solidFill>
          <a:ln w="12700">
            <a:solidFill>
              <a:srgbClr val="E7F0FB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7818120" y="45720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no se subió, así que cada integrante crea su propio .env local con sus credenciales.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trabajar con ramas y pull requests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1444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flujo de trabajo en equipo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7830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Traer lo último de GitHub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pull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una rama para la nueva función y cambiarte a ella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-c reporte-calificaciones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programar en reportes.py ...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reportes.py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"Agrega reporte de calificaciones por grupo"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8A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la rama a GitHub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reporte-calificaciones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932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GITHUB AL SUBIR LA RAMA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94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remote: Create a pull request for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'reporte-calificaciones' on GitHub by visiting: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remote:   https://github.com/luis-dev/.../pull/new/...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141732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174650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los cambios que subieron tus compañeros antes de empezar.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266319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631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63575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99237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rama aislada: main no se toca mientras trabajas.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89520" y="390906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9090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8816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 la rama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23824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la rama; GitHub muestra el botón «Compare &amp; pull request».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5154930"/>
            <a:ext cx="475488" cy="47548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5154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512749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84114"/>
            <a:ext cx="3429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compañero revisa el código y, si está bien, hace «Merge» a main.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PROYECTO LOCAL · EXPLICACIÓN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¿qué hicimos y por qué?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4447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+ .gitignore primero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1051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la carpeta en repositorio y excluimos venv/, __pycache__/ y la contraseña en .env antes de guardar nada.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79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vacío en GitHub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4495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ya existía un commit local, el repo remoto debía estar vacío para que el primer push no fuera rechazado.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136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+ push -u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7939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ambos repositorios con el nombre origin y subimos main por primera vez.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1480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y pull requests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51383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trabaja en su rama y los cambios se revisan antes de llegar a main.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18120" y="1463040"/>
            <a:ext cx="3840480" cy="297180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aplicados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25856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50392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</a:t>
            </a:r>
            <a:endParaRPr lang="en-US" sz="15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8892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503920" y="2724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5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31927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503920" y="32552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origin</a:t>
            </a:r>
            <a:endParaRPr lang="en-US" sz="15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849624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503920" y="37856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y pull requests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818120" y="4617720"/>
            <a:ext cx="3840480" cy="1783080"/>
          </a:xfrm>
          <a:prstGeom prst="roundRect">
            <a:avLst>
              <a:gd name="adj" fmla="val 512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80060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50392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practicar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046720" y="52578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la rama main en Settings → Branches para que solo se integre mediante pull request con una revisión.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resumen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recomendados, errores frecuentes con su solución y los comandos esenciales.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2926080" cy="2926080"/>
          </a:xfrm>
          <a:prstGeom prst="ellipse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299" y="2439619"/>
            <a:ext cx="1521562" cy="1521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al crear y usar un repositorio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un README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qué es, cómo instalarlo y cómo usarlo.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1292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41520" y="1737360"/>
            <a:ext cx="640080" cy="64008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139" y="189097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1876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desde el inicio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4152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subir dependencias, temporales y secretos.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77200" y="150876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05800" y="1737360"/>
            <a:ext cx="640080" cy="64008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419" y="189097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83040" y="17373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commit claros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8305800" y="251460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«Agrega login de usuarios», no «cambios» ni «asdf».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640080" cy="64008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42843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pequeños y frecuentes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lógico por commit; es más fácil revisar y deshacer.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31292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41520" y="4274820"/>
            <a:ext cx="640080" cy="64008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139" y="442843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1876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para cada función</a:t>
            </a:r>
            <a:endParaRPr lang="en-US" sz="1700" dirty="0"/>
          </a:p>
        </p:txBody>
      </p:sp>
      <p:sp>
        <p:nvSpPr>
          <p:cNvPr id="31" name="Text 23"/>
          <p:cNvSpPr txBox="1"/>
          <p:nvPr/>
        </p:nvSpPr>
        <p:spPr>
          <a:xfrm>
            <a:off x="454152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main siempre estable y funcionando.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8077200" y="4046220"/>
            <a:ext cx="3535680" cy="2308860"/>
          </a:xfrm>
          <a:prstGeom prst="roundRect">
            <a:avLst>
              <a:gd name="adj" fmla="val 396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05800" y="4274820"/>
            <a:ext cx="640080" cy="640080"/>
          </a:xfrm>
          <a:prstGeom prst="ellipse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419" y="4428439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83040" y="427482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subas secretos</a:t>
            </a:r>
            <a:endParaRPr lang="en-US" sz="1700" dirty="0"/>
          </a:p>
        </p:txBody>
      </p:sp>
      <p:sp>
        <p:nvSpPr>
          <p:cNvPr id="36" name="Text 27"/>
          <p:cNvSpPr txBox="1"/>
          <p:nvPr/>
        </p:nvSpPr>
        <p:spPr>
          <a:xfrm>
            <a:off x="8305800" y="5052060"/>
            <a:ext cx="3078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y tokens van en .env o en GitHub Secrets.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y cómo solucionarlos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31920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 mensaje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rejected ... (fetch first)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repo de GitHub tiene commits (README) que tu repo local no tiene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pull origin main --allow-unrelated-histories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Authentication failed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Usaste la contraseña de tu cuenta en vez de un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un token personal, SSH o gh auth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a git repository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Estás en una carpeta sin git 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cd para entrar al proyecto correcto o ejecuta git 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remote origin already exists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agregaste un remoto con ese nombre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remote set-url origin &lt;URL&gt;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Please tell me who you are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configuraste nombre y correo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config --global user.name / user.email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Subí .env por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existía .gitignore antes del 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la contraseña, agrégalo a .gitignore y git rm --cached .env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(una vez)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011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011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011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user.name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\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user.email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"a@b.com"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 obtener un repo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0560" y="2011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2011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2011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&lt;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cambios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4672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0" y="2011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0" y="20116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95360" y="20116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7532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"mensaje"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GitHub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3434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44805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7280" y="44805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7548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&lt;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main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297680" y="43434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480560" y="44805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44805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46320" y="44805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26280" y="47548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pull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04672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046720" y="43434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229600" y="44805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95360" y="44805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7548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-c nueva-rama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main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recordar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31720"/>
            <a:ext cx="731520" cy="73152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5072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176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nuevo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5877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repo en la web con README y clónalo (ejemplo 1).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331720"/>
            <a:ext cx="731520" cy="73152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25072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176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existente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5877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+ .gitignore, repo VACÍO en GitHub, remote y push (ejemplo 2).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611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3931920"/>
            <a:ext cx="731520" cy="73152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05" y="41074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3776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diario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965960" y="41879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→ editar → git add → git commit → git push.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611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3931920"/>
            <a:ext cx="731520" cy="731520"/>
          </a:xfrm>
          <a:prstGeom prst="ellipse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41074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3776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1879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Autentícate con token o SSH y nunca subas contraseñas.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5440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51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repositorio en GitHub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crear un repositorio en GitHub</dc:title>
  <dc:subject>PptxGenJS Presentation</dc:subject>
  <dc:creator>PptxGenJS</dc:creator>
  <cp:lastModifiedBy>PptxGenJS</cp:lastModifiedBy>
  <cp:revision>1</cp:revision>
  <dcterms:created xsi:type="dcterms:W3CDTF">2026-10-01T05:40:17Z</dcterms:created>
  <dcterms:modified xsi:type="dcterms:W3CDTF">2026-10-01T05:40:17Z</dcterms:modified>
</cp:coreProperties>
</file>